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8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46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3EE8"/>
          </a:solidFill>
          <a:ln w="12700">
            <a:solidFill>
              <a:srgbClr val="1A3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1A3EE8">
              <a:alpha val="15000"/>
            </a:srgbClr>
          </a:solidFill>
          <a:ln w="12700">
            <a:solidFill>
              <a:srgbClr val="1A3EE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4114800"/>
            <a:ext cx="4572000" cy="4572000"/>
          </a:xfrm>
          <a:prstGeom prst="ellipse">
            <a:avLst/>
          </a:prstGeom>
          <a:solidFill>
            <a:srgbClr val="FF6B1A">
              <a:alpha val="12000"/>
            </a:srgbClr>
          </a:solidFill>
          <a:ln w="12700">
            <a:solidFill>
              <a:srgbClr val="FF6B1A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IDENTITY SYSTEM ·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4F6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STEAM</a:t>
            </a:r>
            <a:r>
              <a:rPr lang="en-US" sz="8000" b="1" dirty="0">
                <a:solidFill>
                  <a:srgbClr val="FF6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1000" dirty="0">
                <a:solidFill>
                  <a:srgbClr val="B8BCC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3200400" cy="27432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BCC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Curiosity Meets Competition.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40233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brand identity system for eSTEAMED Academy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its three core programs — Expanded Learning, Labs &amp; Leagues.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5166360"/>
            <a:ext cx="1463040" cy="347472"/>
          </a:xfrm>
          <a:prstGeom prst="rect">
            <a:avLst/>
          </a:prstGeom>
          <a:solidFill>
            <a:srgbClr val="FFCC00">
              <a:alpha val="15000"/>
            </a:srgbClr>
          </a:solidFill>
          <a:ln w="12700">
            <a:solidFill>
              <a:srgbClr val="FFCC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5166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Kit v1.0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875520" y="2194560"/>
            <a:ext cx="347472" cy="347472"/>
          </a:xfrm>
          <a:prstGeom prst="ellipse">
            <a:avLst/>
          </a:prstGeom>
          <a:solidFill>
            <a:srgbClr val="1A3EE8"/>
          </a:solidFill>
          <a:ln w="12700">
            <a:solidFill>
              <a:srgbClr val="1A3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469880" y="2194560"/>
            <a:ext cx="347472" cy="347472"/>
          </a:xfrm>
          <a:prstGeom prst="ellipse">
            <a:avLst/>
          </a:prstGeom>
          <a:solidFill>
            <a:srgbClr val="22254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064240" y="2194560"/>
            <a:ext cx="347472" cy="347472"/>
          </a:xfrm>
          <a:prstGeom prst="ellipse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875520" y="2788920"/>
            <a:ext cx="347472" cy="347472"/>
          </a:xfrm>
          <a:prstGeom prst="ellipse">
            <a:avLst/>
          </a:prstGeom>
          <a:solidFill>
            <a:srgbClr val="22254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469880" y="2788920"/>
            <a:ext cx="347472" cy="347472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064240" y="2788920"/>
            <a:ext cx="347472" cy="347472"/>
          </a:xfrm>
          <a:prstGeom prst="ellipse">
            <a:avLst/>
          </a:prstGeom>
          <a:solidFill>
            <a:srgbClr val="22254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875520" y="3383280"/>
            <a:ext cx="347472" cy="347472"/>
          </a:xfrm>
          <a:prstGeom prst="ellipse">
            <a:avLst/>
          </a:prstGeom>
          <a:solidFill>
            <a:srgbClr val="22254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469880" y="3383280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064240" y="3383280"/>
            <a:ext cx="347472" cy="347472"/>
          </a:xfrm>
          <a:prstGeom prst="ellipse">
            <a:avLst/>
          </a:prstGeom>
          <a:solidFill>
            <a:srgbClr val="22254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A3EE8"/>
          </a:solidFill>
          <a:ln w="12700">
            <a:solidFill>
              <a:srgbClr val="1A3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FOUNDATION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 &amp; Positioning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03520" cy="2194560"/>
          </a:xfrm>
          <a:prstGeom prst="rect">
            <a:avLst/>
          </a:prstGeom>
          <a:solidFill>
            <a:srgbClr val="1A1D30"/>
          </a:solidFill>
          <a:ln w="19050">
            <a:solidFill>
              <a:srgbClr val="1A3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91440" cy="2194560"/>
          </a:xfrm>
          <a:prstGeom prst="rect">
            <a:avLst/>
          </a:prstGeom>
          <a:solidFill>
            <a:srgbClr val="1A3EE8"/>
          </a:solidFill>
          <a:ln w="12700">
            <a:solidFill>
              <a:srgbClr val="1A3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ignite curiosity and equip every student with the creative and technical skills to shape tomorrow.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212080" cy="2194560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91440" cy="219456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29400" y="16916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9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PROMISE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29400" y="20574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eSTEAMED Academy bridges classroom learning and real-world innovation. We don't just teach STEAM — we activate it through hands-on, competition-driven, community-rooted programs.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SERVE: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2377440" cy="438912"/>
          </a:xfrm>
          <a:prstGeom prst="rect">
            <a:avLst/>
          </a:prstGeom>
          <a:solidFill>
            <a:srgbClr val="1A3EE8">
              <a:alpha val="18000"/>
            </a:srgbClr>
          </a:solidFill>
          <a:ln w="12700">
            <a:solidFill>
              <a:srgbClr val="1A3EE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E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School Districts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4434840"/>
            <a:ext cx="2377440" cy="438912"/>
          </a:xfrm>
          <a:prstGeom prst="rect">
            <a:avLst/>
          </a:prstGeom>
          <a:solidFill>
            <a:srgbClr val="FF6B1A">
              <a:alpha val="18000"/>
            </a:srgbClr>
          </a:solidFill>
          <a:ln w="12700">
            <a:solidFill>
              <a:srgbClr val="FF6B1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44348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 &amp; Families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4434840"/>
            <a:ext cx="2377440" cy="438912"/>
          </a:xfrm>
          <a:prstGeom prst="rect">
            <a:avLst/>
          </a:prstGeom>
          <a:solidFill>
            <a:srgbClr val="FFCC00">
              <a:alpha val="18000"/>
            </a:srgbClr>
          </a:solidFill>
          <a:ln w="12700">
            <a:solidFill>
              <a:srgbClr val="FFCC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44348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Competitors &amp; Teams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COLOR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 Palette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COLORS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1463040"/>
          </a:xfrm>
          <a:prstGeom prst="rect">
            <a:avLst/>
          </a:prstGeom>
          <a:solidFill>
            <a:srgbClr val="1A3EE8"/>
          </a:solidFill>
          <a:ln w="12700">
            <a:solidFill>
              <a:srgbClr val="1A3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606040" y="2816352"/>
            <a:ext cx="1417320" cy="320040"/>
          </a:xfrm>
          <a:prstGeom prst="rect">
            <a:avLst/>
          </a:prstGeom>
          <a:solidFill>
            <a:srgbClr val="0A0C18">
              <a:alpha val="50000"/>
            </a:srgbClr>
          </a:solidFill>
          <a:ln w="12700">
            <a:solidFill>
              <a:srgbClr val="0A0C1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06040" y="28163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#1A3EE8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3566160" cy="841248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3310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Cobalt Blue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639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· Innovation · Learning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737360"/>
            <a:ext cx="3566160" cy="146304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46520" y="2816352"/>
            <a:ext cx="1417320" cy="320040"/>
          </a:xfrm>
          <a:prstGeom prst="rect">
            <a:avLst/>
          </a:prstGeom>
          <a:solidFill>
            <a:srgbClr val="0A0C18">
              <a:alpha val="50000"/>
            </a:srgbClr>
          </a:solidFill>
          <a:ln w="12700">
            <a:solidFill>
              <a:srgbClr val="0A0C1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46520" y="28163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#FF6B1A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0" y="3246120"/>
            <a:ext cx="3566160" cy="841248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26280" y="3310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55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Ember Orange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3639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· Creativity · Action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1737360"/>
            <a:ext cx="3566160" cy="146304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287000" y="2816352"/>
            <a:ext cx="1417320" cy="320040"/>
          </a:xfrm>
          <a:prstGeom prst="rect">
            <a:avLst/>
          </a:prstGeom>
          <a:solidFill>
            <a:srgbClr val="0A0C18">
              <a:alpha val="50000"/>
            </a:srgbClr>
          </a:solidFill>
          <a:ln w="12700">
            <a:solidFill>
              <a:srgbClr val="0A0C1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287000" y="28163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#FFCC00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229600" y="3246120"/>
            <a:ext cx="3566160" cy="841248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366760" y="3310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B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 Yellow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3639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Optimism · Achievement · Spark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3159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NEUTRALS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617720"/>
            <a:ext cx="2011680" cy="658368"/>
          </a:xfrm>
          <a:prstGeom prst="rect">
            <a:avLst/>
          </a:prstGeom>
          <a:solidFill>
            <a:srgbClr val="0A0C18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5321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Ink  #0A0C18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61488" y="4617720"/>
            <a:ext cx="2011680" cy="658368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61488" y="5321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Slate  #1A1D30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74336" y="4617720"/>
            <a:ext cx="2011680" cy="658368"/>
          </a:xfrm>
          <a:prstGeom prst="rect">
            <a:avLst/>
          </a:prstGeom>
          <a:solidFill>
            <a:srgbClr val="7B81A0"/>
          </a:solidFill>
          <a:ln w="12700">
            <a:solidFill>
              <a:srgbClr val="7B81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74336" y="5321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  #7B81A0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87184" y="4617720"/>
            <a:ext cx="2011680" cy="658368"/>
          </a:xfrm>
          <a:prstGeom prst="rect">
            <a:avLst/>
          </a:prstGeom>
          <a:solidFill>
            <a:srgbClr val="F3F4FA"/>
          </a:solidFill>
          <a:ln w="12700">
            <a:solidFill>
              <a:srgbClr val="B8BC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187184" y="5321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Snow  #F3F4FA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400032" y="4617720"/>
            <a:ext cx="2011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8BC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400032" y="5321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White  #FFFFFF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LOGO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 Lockups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120640" cy="2194560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F6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STEAM</a:t>
            </a:r>
            <a:r>
              <a:rPr lang="en-US" sz="4400" b="1" dirty="0">
                <a:solidFill>
                  <a:srgbClr val="FF6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800" dirty="0">
                <a:solidFill>
                  <a:srgbClr val="B8BCC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7307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Dark / Slate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5120640" cy="2194560"/>
          </a:xfrm>
          <a:prstGeom prst="rect">
            <a:avLst/>
          </a:prstGeom>
          <a:solidFill>
            <a:srgbClr val="F3F4FA"/>
          </a:solidFill>
          <a:ln w="12700">
            <a:solidFill>
              <a:srgbClr val="B8BC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0" y="18745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3E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r>
              <a:rPr lang="en-US" sz="4400" b="1" dirty="0">
                <a:solidFill>
                  <a:srgbClr val="0A0C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STEAM</a:t>
            </a:r>
            <a:r>
              <a:rPr lang="en-US" sz="4400" b="1" dirty="0">
                <a:solidFill>
                  <a:srgbClr val="D94E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720840" y="2743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800" dirty="0">
                <a:solidFill>
                  <a:srgbClr val="1A1D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37307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Light / White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 COLOR LOGIC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45262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6E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"e"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48840" y="45262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Cobalt or Solar — represents digital, technology, discovery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983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"STEAM"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48840" y="49834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White or Ink — the academic anchor, universally readable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"ED"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48840" y="54406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Ember — energy, education, empowerment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TYPOGRAPHY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System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5303520" cy="2331720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 / HEADINGS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Arial Black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logos, headlines, program names, hero text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Bold / Extra Bold · Sizes: 36–96pt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BCC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ABCDEFGHIJKLMNOPQRSTUVWXYZ  0123456789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444752"/>
            <a:ext cx="5212080" cy="2331720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57276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/ UI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0" y="187452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body copy, navigation, buttons, captions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Light · Regular · SemiBold · Sizes: 12–18pt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student innovators to build the future.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11064240" cy="1508760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91440" cy="150876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187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 / LABELS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448056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Consolas  —  Used for tags, codes, labels, data, and eyebrow text. Adds technical STEM credibility.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4343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PROGRAM_ID: EXP-001  ·  DISTRICT: LCUSD  ·  STATUS: ACTIVE  ·  SEASON: 2026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Kit v1.0  ·  #1A3EE8  ·  #FF6B1A  ·  #FFCC00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PROGRAMS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 Identity System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657600" cy="5074920"/>
          </a:xfrm>
          <a:prstGeom prst="rect">
            <a:avLst/>
          </a:prstGeom>
          <a:solidFill>
            <a:srgbClr val="1A3EE8">
              <a:alpha val="12000"/>
            </a:srgbClr>
          </a:solidFill>
          <a:ln w="19050">
            <a:solidFill>
              <a:srgbClr val="1A3E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657600" cy="91440"/>
          </a:xfrm>
          <a:prstGeom prst="rect">
            <a:avLst/>
          </a:prstGeom>
          <a:solidFill>
            <a:srgbClr val="1A3EE8"/>
          </a:solidFill>
          <a:ln w="12700">
            <a:solidFill>
              <a:srgbClr val="1A3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EXPANDED LEARNING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🏫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Expanded Learning Academy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with school districts to provide high-quality STEAM enrichment after school. Curriculum is standards-aligned and outcomes-tracked.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4800600"/>
            <a:ext cx="320040" cy="320040"/>
          </a:xfrm>
          <a:prstGeom prst="ellipse">
            <a:avLst/>
          </a:prstGeom>
          <a:solidFill>
            <a:srgbClr val="1A3EE8"/>
          </a:solidFill>
          <a:ln w="12700">
            <a:solidFill>
              <a:srgbClr val="1A3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97280" y="4800600"/>
            <a:ext cx="320040" cy="32004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5230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Trustworthy, professional, institutional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0" y="1463040"/>
            <a:ext cx="3657600" cy="5074920"/>
          </a:xfrm>
          <a:prstGeom prst="rect">
            <a:avLst/>
          </a:prstGeom>
          <a:solidFill>
            <a:srgbClr val="FF6B1A">
              <a:alpha val="12000"/>
            </a:srgbClr>
          </a:solidFill>
          <a:ln w="19050">
            <a:solidFill>
              <a:srgbClr val="FF6B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0" y="1463040"/>
            <a:ext cx="3657600" cy="9144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0" y="1691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9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⚗️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0" y="27432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eSTEAMED Labs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0" y="352044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STEM enrichment classes and maker space where students build, test, prototype, and create using cutting-edge tools.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4800600"/>
            <a:ext cx="320040" cy="320040"/>
          </a:xfrm>
          <a:prstGeom prst="ellipse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83480" y="4800600"/>
            <a:ext cx="320040" cy="320040"/>
          </a:xfrm>
          <a:prstGeom prst="ellipse">
            <a:avLst/>
          </a:prstGeom>
          <a:solidFill>
            <a:srgbClr val="FF9558"/>
          </a:solidFill>
          <a:ln w="12700">
            <a:solidFill>
              <a:srgbClr val="FF95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5230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Energetic, curious, maker-driven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75320" y="1463040"/>
            <a:ext cx="3657600" cy="5074920"/>
          </a:xfrm>
          <a:prstGeom prst="rect">
            <a:avLst/>
          </a:prstGeom>
          <a:solidFill>
            <a:srgbClr val="FFCC00">
              <a:alpha val="12000"/>
            </a:srgbClr>
          </a:solidFill>
          <a:ln w="19050">
            <a:solidFill>
              <a:srgbClr val="FFCC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275320" y="1463040"/>
            <a:ext cx="3657600" cy="9144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58200" y="1691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6B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LEAGUES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5820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458200" y="274320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eSTEAMED Leagues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58200" y="352044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robotics and STEAM teams — including FIRST LEGO League and our proprietary eSTEAMED competitions and championship events.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58200" y="4800600"/>
            <a:ext cx="320040" cy="320040"/>
          </a:xfrm>
          <a:prstGeom prst="ellipse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869680" y="4800600"/>
            <a:ext cx="320040" cy="320040"/>
          </a:xfrm>
          <a:prstGeom prst="ellipse">
            <a:avLst/>
          </a:prstGeom>
          <a:solidFill>
            <a:srgbClr val="E6B200"/>
          </a:solidFill>
          <a:ln w="12700">
            <a:solidFill>
              <a:srgbClr val="E6B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458200" y="5230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Competitive, champion-worthy, community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1A3EE8"/>
          </a:solidFill>
          <a:ln w="12700">
            <a:solidFill>
              <a:srgbClr val="1A3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VOICE &amp; TAGLINES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Language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7132320" cy="1371600"/>
          </a:xfrm>
          <a:prstGeom prst="rect">
            <a:avLst/>
          </a:prstGeom>
          <a:solidFill>
            <a:srgbClr val="1A3EE8">
              <a:alpha val="20000"/>
            </a:srgbClr>
          </a:solidFill>
          <a:ln w="19050">
            <a:solidFill>
              <a:srgbClr val="1A3EE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TAGLINE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Curiosity Meets Competition.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ALTERNATE TAGLINES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401568" cy="457200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 Explore. Compete.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0" y="3337560"/>
            <a:ext cx="3401568" cy="457200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6240" y="333756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Ignite the STEAM in Every Student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3401568" cy="457200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88620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It. Make It. Win 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206240" y="3886200"/>
            <a:ext cx="3401568" cy="457200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06240" y="388620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Enrichment · Powered by Passion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09560" y="1463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VOICE TRAITS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09560" y="1810512"/>
            <a:ext cx="73152" cy="960120"/>
          </a:xfrm>
          <a:prstGeom prst="rect">
            <a:avLst/>
          </a:prstGeom>
          <a:solidFill>
            <a:srgbClr val="1A3EE8"/>
          </a:solidFill>
          <a:ln w="12700">
            <a:solidFill>
              <a:srgbClr val="1A3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82712" y="1810512"/>
            <a:ext cx="3657600" cy="960120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165592" y="19019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Empowering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65592" y="224942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language uplifts, never gatekeeps. Every student has the capacity to innovate.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09560" y="2907792"/>
            <a:ext cx="73152" cy="960120"/>
          </a:xfrm>
          <a:prstGeom prst="rect">
            <a:avLst/>
          </a:prstGeom>
          <a:solidFill>
            <a:srgbClr val="FF6B1A"/>
          </a:solidFill>
          <a:ln w="12700">
            <a:solidFill>
              <a:srgbClr val="FF6B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82712" y="2907792"/>
            <a:ext cx="3657600" cy="960120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65592" y="29992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Bold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65592" y="334670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up loud with competitions, maker spaces, and real-world challenges.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909560" y="4005072"/>
            <a:ext cx="73152" cy="9601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82712" y="4005072"/>
            <a:ext cx="3657600" cy="960120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65592" y="40965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Credible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65592" y="444398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speak to district administrators AND to kids. Register shifts, tone never does.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909560" y="5102352"/>
            <a:ext cx="73152" cy="96012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982712" y="5102352"/>
            <a:ext cx="3657600" cy="960120"/>
          </a:xfrm>
          <a:prstGeom prst="rect">
            <a:avLst/>
          </a:prstGeom>
          <a:solidFill>
            <a:srgbClr val="1A1D30"/>
          </a:solidFill>
          <a:ln w="12700">
            <a:solidFill>
              <a:srgbClr val="22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165592" y="51937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Inclusive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65592" y="5541264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B8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belongs to everyone. Language and imagery reflect the diversity we serve.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6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— USAGE RULES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Do's, Don'ts &amp; 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09728" cy="3017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"eSTEAMED" with lowercase "e" — even at the start of a sentence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three-color logo split: e=Cobalt, STEAM=Neutral, ED=Ember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437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Solar Yellow as a highlight accent — badges, callouts, tags, awards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826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program-specific colors (Cobalt=Expanded, Ember=Labs, Solar=Leagues)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7216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Arial Black for headlines with Calibri for body copy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generous white space — let the brand breathe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109728" cy="3017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2940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DON'T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"ESTEAMED" or "eSteamed" — the stylization is intentional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0" y="24048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Solar Yellow as a dominant background — it's an accent, not a 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28437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Stretch, outline, or add drop shadows to the wordmark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32826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more than two primary brand colors in a single layout element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29400" y="37216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program color identities in program-specific materials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4160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100" dirty="0">
                <a:solidFill>
                  <a:srgbClr val="B8BC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generic stock imagery — show real students and real builds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754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C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5102352"/>
            <a:ext cx="2651760" cy="822960"/>
          </a:xfrm>
          <a:prstGeom prst="rect">
            <a:avLst/>
          </a:prstGeom>
          <a:solidFill>
            <a:srgbClr val="1A3EE8">
              <a:alpha val="12000"/>
            </a:srgbClr>
          </a:solidFill>
          <a:ln w="12700">
            <a:solidFill>
              <a:srgbClr val="1A3EE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51023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E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Vector Logo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29000" y="5102352"/>
            <a:ext cx="2651760" cy="822960"/>
          </a:xfrm>
          <a:prstGeom prst="rect">
            <a:avLst/>
          </a:prstGeom>
          <a:solidFill>
            <a:srgbClr val="FF6B1A">
              <a:alpha val="12000"/>
            </a:srgbClr>
          </a:solidFill>
          <a:ln w="12700">
            <a:solidFill>
              <a:srgbClr val="FF6B1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66160" y="51023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Collateral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5102352"/>
            <a:ext cx="2651760" cy="822960"/>
          </a:xfrm>
          <a:prstGeom prst="rect">
            <a:avLst/>
          </a:prstGeom>
          <a:solidFill>
            <a:srgbClr val="FFCC00">
              <a:alpha val="12000"/>
            </a:srgbClr>
          </a:solidFill>
          <a:ln w="12700">
            <a:solidFill>
              <a:srgbClr val="FFCC0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46520" y="51023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Digital Presence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89720" y="5102352"/>
            <a:ext cx="2651760" cy="822960"/>
          </a:xfrm>
          <a:prstGeom prst="rect">
            <a:avLst/>
          </a:prstGeom>
          <a:solidFill>
            <a:srgbClr val="4F6EF7">
              <a:alpha val="12000"/>
            </a:srgbClr>
          </a:solidFill>
          <a:ln w="12700">
            <a:solidFill>
              <a:srgbClr val="4F6EF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326880" y="51023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Brand PDF Guide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1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</Words>
  <Application>Microsoft Office PowerPoint</Application>
  <PresentationFormat>Widescreen</PresentationFormat>
  <Paragraphs>138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eSTEAMED Academy — Brand Kit</dc:title>
  <dc:subject>PptxGenJS Presentation</dc:subject>
  <dc:creator>eSTEAMED Academy</dc:creator>
  <cp:lastModifiedBy>Alona Jennings</cp:lastModifiedBy>
  <cp:revision>1</cp:revision>
  <dcterms:created xsi:type="dcterms:W3CDTF">2026-05-04T14:17:26Z</dcterms:created>
  <dcterms:modified xsi:type="dcterms:W3CDTF">2026-06-10T18:04:47Z</dcterms:modified>
</cp:coreProperties>
</file>